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שמרני (100K)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חודש 1</c:v>
                  </c:pt>
                  <c:pt idx="1">
                    <c:v>חודש 2</c:v>
                  </c:pt>
                  <c:pt idx="2">
                    <c:v>חודש 3</c:v>
                  </c:pt>
                  <c:pt idx="3">
                    <c:v>חודש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5000</c:v>
                </c:pt>
                <c:pt idx="1">
                  <c:v>13600</c:v>
                </c:pt>
                <c:pt idx="2">
                  <c:v>47000</c:v>
                </c:pt>
                <c:pt idx="3">
                  <c:v>102100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עליון (141K)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חודש 1</c:v>
                  </c:pt>
                  <c:pt idx="1">
                    <c:v>חודש 2</c:v>
                  </c:pt>
                  <c:pt idx="2">
                    <c:v>חודש 3</c:v>
                  </c:pt>
                  <c:pt idx="3">
                    <c:v>חודש 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6000</c:v>
                </c:pt>
                <c:pt idx="1">
                  <c:v>18400</c:v>
                </c:pt>
                <c:pt idx="2">
                  <c:v>62700</c:v>
                </c:pt>
                <c:pt idx="3">
                  <c:v>141000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CCCCC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1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45720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 Sales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Assignment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ILS MRR in 4 Months — Partnership Strategy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3716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בניתי את האסטרטגיה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995160" y="1005840"/>
            <a:ext cx="2057400" cy="2011680"/>
          </a:xfrm>
          <a:prstGeom prst="roundRect">
            <a:avLst>
              <a:gd name="adj" fmla="val 4545"/>
            </a:avLst>
          </a:prstGeom>
          <a:solidFill>
            <a:srgbClr val="F4F5F9"/>
          </a:solidFill>
          <a:ln/>
        </p:spPr>
      </p:sp>
      <p:sp>
        <p:nvSpPr>
          <p:cNvPr id="5" name="Text 2"/>
          <p:cNvSpPr/>
          <p:nvPr/>
        </p:nvSpPr>
        <p:spPr>
          <a:xfrm>
            <a:off x="7726680" y="1097280"/>
            <a:ext cx="594360" cy="594360"/>
          </a:xfrm>
          <a:prstGeom prst="ellipse">
            <a:avLst/>
          </a:prstGeom>
          <a:solidFill>
            <a:srgbClr val="4A6FA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86600" y="18288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מחקר שוק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086600" y="2194560"/>
            <a:ext cx="1874520" cy="6400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סגמנטים, 40+ שותפים פוטנציאליים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2057400" cy="2011680"/>
          </a:xfrm>
          <a:prstGeom prst="roundRect">
            <a:avLst>
              <a:gd name="adj" fmla="val 4545"/>
            </a:avLst>
          </a:prstGeom>
          <a:solidFill>
            <a:srgbClr val="F4F5F9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0" y="1097280"/>
            <a:ext cx="594360" cy="594360"/>
          </a:xfrm>
          <a:prstGeom prst="ellipse">
            <a:avLst/>
          </a:prstGeom>
          <a:solidFill>
            <a:srgbClr val="00C9A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846320" y="18288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סינון ופוקוס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46320" y="2194560"/>
            <a:ext cx="1874520" cy="6400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2+1 סגמנטים עם הפוטנציאל הגבוה ביותר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14600" y="1005840"/>
            <a:ext cx="2057400" cy="2011680"/>
          </a:xfrm>
          <a:prstGeom prst="roundRect">
            <a:avLst>
              <a:gd name="adj" fmla="val 4545"/>
            </a:avLst>
          </a:prstGeom>
          <a:solidFill>
            <a:srgbClr val="F4F5F9"/>
          </a:solidFill>
          <a:ln/>
        </p:spPr>
      </p:sp>
      <p:sp>
        <p:nvSpPr>
          <p:cNvPr id="13" name="Text 10"/>
          <p:cNvSpPr/>
          <p:nvPr/>
        </p:nvSpPr>
        <p:spPr>
          <a:xfrm>
            <a:off x="3246120" y="1097280"/>
            <a:ext cx="594360" cy="594360"/>
          </a:xfrm>
          <a:prstGeom prst="ellipse">
            <a:avLst/>
          </a:prstGeom>
          <a:solidFill>
            <a:srgbClr val="2D315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606040" y="18288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חלוקה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606040" y="2194560"/>
            <a:ext cx="1874520" cy="6400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(שותפים חדשים) + Inbound (מינוף קיימים)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1005840"/>
            <a:ext cx="2057400" cy="2011680"/>
          </a:xfrm>
          <a:prstGeom prst="roundRect">
            <a:avLst>
              <a:gd name="adj" fmla="val 4545"/>
            </a:avLst>
          </a:prstGeom>
          <a:solidFill>
            <a:srgbClr val="F4F5F9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1097280"/>
            <a:ext cx="594360" cy="594360"/>
          </a:xfrm>
          <a:prstGeom prst="ellipse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65760" y="18288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תוכנית אופרטיבית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65760" y="2194560"/>
            <a:ext cx="1874520" cy="6400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למי פונים, מה אומרים, מתי סוגרים, כמה מכניס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+ Inbound = שני מנועים שעובדים במקביל. אם אחד מתעכב — השני מפצה.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38404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3E0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3886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40080" y="4206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שותפים חדשים | 5 סגמנטים | ~20,000 עסקים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54880" y="38404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/>
        </p:spPr>
      </p:sp>
      <p:sp>
        <p:nvSpPr>
          <p:cNvPr id="25" name="Text 22"/>
          <p:cNvSpPr/>
          <p:nvPr/>
        </p:nvSpPr>
        <p:spPr>
          <a:xfrm>
            <a:off x="4937760" y="3886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937760" y="4206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שותפים קיימים | הרחבת מוצרים | ~90,000 עסקים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3716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מינוף שותפים קיימים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Wolt • Wix • Isracard/Cal • Zester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3716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— מה יש, מה חסר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274320" y="822960"/>
            <a:ext cx="1371600" cy="731520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lIns="38100" tIns="63500" rIns="63500" bIns="3810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שותף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737360" y="822960"/>
            <a:ext cx="1828800" cy="731520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lIns="38100" tIns="63500" rIns="63500" bIns="3810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משתמש היום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657600" y="822960"/>
            <a:ext cx="1828800" cy="731520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lIns="38100" tIns="63500" rIns="63500" bIns="3810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חסר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577840" y="822960"/>
            <a:ext cx="1828800" cy="731520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lIns="38100" tIns="63500" rIns="63500" bIns="3810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סוג הזדמנות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498080" y="822960"/>
            <a:ext cx="1371600" cy="731520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lIns="38100" tIns="63500" rIns="63500" bIns="3810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עסקים פוטנציאליים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74320" y="1645920"/>
            <a:ext cx="137160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63500" rIns="635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737360" y="1645920"/>
            <a:ext cx="182880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63500" rIns="635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+ Payments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(שליחים)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657600" y="1645920"/>
            <a:ext cx="182880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63500" rIns="635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+ Promoter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ל-Merchants (מסעדות)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577840" y="1645920"/>
            <a:ext cx="182880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63500" rIns="635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רעב — Revenue Stream חדש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498080" y="1645920"/>
            <a:ext cx="137160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63500" rIns="635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~4,000 מסעדות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74320" y="2468880"/>
            <a:ext cx="1371600" cy="731520"/>
          </a:xfrm>
          <a:prstGeom prst="rect">
            <a:avLst/>
          </a:prstGeom>
          <a:solidFill>
            <a:srgbClr val="F0FAF0"/>
          </a:solidFill>
          <a:ln/>
        </p:spPr>
        <p:txBody>
          <a:bodyPr wrap="square" lIns="38100" tIns="63500" rIns="635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37360" y="2468880"/>
            <a:ext cx="1828800" cy="731520"/>
          </a:xfrm>
          <a:prstGeom prst="rect">
            <a:avLst/>
          </a:prstGeom>
          <a:solidFill>
            <a:srgbClr val="F0FAF0"/>
          </a:solidFill>
          <a:ln/>
        </p:spPr>
        <p:txBody>
          <a:bodyPr wrap="square" lIns="38100" tIns="63500" rIns="635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(Isracard powered by PayMe)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657600" y="2468880"/>
            <a:ext cx="1828800" cy="731520"/>
          </a:xfrm>
          <a:prstGeom prst="rect">
            <a:avLst/>
          </a:prstGeom>
          <a:solidFill>
            <a:srgbClr val="F0FAF0"/>
          </a:solidFill>
          <a:ln/>
        </p:spPr>
        <p:txBody>
          <a:bodyPr wrap="square" lIns="38100" tIns="63500" rIns="635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ישראלי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Promoter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577840" y="2468880"/>
            <a:ext cx="1828800" cy="731520"/>
          </a:xfrm>
          <a:prstGeom prst="rect">
            <a:avLst/>
          </a:prstGeom>
          <a:solidFill>
            <a:srgbClr val="F0FAF0"/>
          </a:solidFill>
          <a:ln/>
        </p:spPr>
        <p:txBody>
          <a:bodyPr wrap="square" lIns="38100" tIns="63500" rIns="635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כאב — 3 מערכות נפרדות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498080" y="2468880"/>
            <a:ext cx="1371600" cy="731520"/>
          </a:xfrm>
          <a:prstGeom prst="rect">
            <a:avLst/>
          </a:prstGeom>
          <a:solidFill>
            <a:srgbClr val="F0FAF0"/>
          </a:solidFill>
          <a:ln/>
        </p:spPr>
        <p:txBody>
          <a:bodyPr wrap="square" lIns="38100" tIns="63500" rIns="635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~20,000 סוחרים IL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74320" y="3291840"/>
            <a:ext cx="137160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63500" rIns="635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Isracard/Cal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737360" y="3291840"/>
            <a:ext cx="182880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63500" rIns="635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(White Label)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657600" y="3291840"/>
            <a:ext cx="182880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63500" rIns="635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+ Promoter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כחבילה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577840" y="3291840"/>
            <a:ext cx="182880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63500" rIns="635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רעב — דיפרנציאציה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498080" y="3291840"/>
            <a:ext cx="137160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63500" rIns="635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~50,000 עסקים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74320" y="4114800"/>
            <a:ext cx="1371600" cy="731520"/>
          </a:xfrm>
          <a:prstGeom prst="rect">
            <a:avLst/>
          </a:prstGeom>
          <a:solidFill>
            <a:srgbClr val="F0FAF0"/>
          </a:solidFill>
          <a:ln/>
        </p:spPr>
        <p:txBody>
          <a:bodyPr wrap="square" lIns="38100" tIns="63500" rIns="635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Zester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737360" y="4114800"/>
            <a:ext cx="1828800" cy="731520"/>
          </a:xfrm>
          <a:prstGeom prst="rect">
            <a:avLst/>
          </a:prstGeom>
          <a:solidFill>
            <a:srgbClr val="F0FAF0"/>
          </a:solidFill>
          <a:ln/>
        </p:spPr>
        <p:txBody>
          <a:bodyPr wrap="square" lIns="38100" tIns="63500" rIns="635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B2B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(תשלומי ספקים)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657600" y="4114800"/>
            <a:ext cx="1828800" cy="731520"/>
          </a:xfrm>
          <a:prstGeom prst="rect">
            <a:avLst/>
          </a:prstGeom>
          <a:solidFill>
            <a:srgbClr val="F0FAF0"/>
          </a:solidFill>
          <a:ln/>
        </p:spPr>
        <p:txBody>
          <a:bodyPr wrap="square" lIns="38100" tIns="63500" rIns="635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למסעדות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577840" y="4114800"/>
            <a:ext cx="1828800" cy="731520"/>
          </a:xfrm>
          <a:prstGeom prst="rect">
            <a:avLst/>
          </a:prstGeom>
          <a:solidFill>
            <a:srgbClr val="F0FAF0"/>
          </a:solidFill>
          <a:ln/>
        </p:spPr>
        <p:txBody>
          <a:bodyPr wrap="square" lIns="38100" tIns="63500" rIns="635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כאב — חשבוניות בנפרד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498080" y="4114800"/>
            <a:ext cx="1371600" cy="731520"/>
          </a:xfrm>
          <a:prstGeom prst="rect">
            <a:avLst/>
          </a:prstGeom>
          <a:solidFill>
            <a:srgbClr val="F0FAF0"/>
          </a:solidFill>
          <a:ln/>
        </p:spPr>
        <p:txBody>
          <a:bodyPr wrap="square" lIns="38100" tIns="63500" rIns="635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~500-1,000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מקור: אתר PayMe, Wix Developer Docs, Isracard.co.il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3716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— אסטרטגיה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כאב = פונים עם פתרון.</a:t>
            </a:r>
            <a:endParaRPr lang="en-US" sz="1300" dirty="0"/>
          </a:p>
          <a:p>
            <a:pPr algn="r" indent="0" marL="0">
              <a:buNone/>
            </a:pPr>
            <a:r>
              <a:rPr lang="en-US" sz="13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רעב = פונים עם הזדמנות.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0800000">
              <a:srgbClr val="000000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Wolt Merchants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פגישה פנימית עם Wolt Ops → הצעת Accounting למסעדות → Pilot 50 → Rollout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0" y="14173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7,000 ש"ח (שמרני)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24028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0800000">
              <a:srgbClr val="000000">
                <a:alpha val="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 Upsell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2606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פגישה עם Fintech team → Accounting bundle לסוחרים ישראלים → Beta → Launch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58000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7,500 ש"ח (שמרני)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10896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0800000">
              <a:srgbClr val="000000">
                <a:alpha val="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Isracard/Cal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" y="3474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→ הרחבת הסכם ל-Accounting+Promoter → הפצה דרך ערוץ קיים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58000" y="3154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ש"ח (עליון בלבד)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97764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0800000">
              <a:srgbClr val="000000">
                <a:alpha val="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023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Wolt הרחבה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" y="4343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הגדלת Activation בקרב שליחים קיימים. עבודה פנימית, לא Sales Cycle חדש.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858000" y="40233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ש"ח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828800" y="4572000"/>
            <a:ext cx="5486400" cy="36576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/>
        </p:spPr>
      </p:sp>
      <p:sp>
        <p:nvSpPr>
          <p:cNvPr id="22" name="Text 19"/>
          <p:cNvSpPr/>
          <p:nvPr/>
        </p:nvSpPr>
        <p:spPr>
          <a:xfrm>
            <a:off x="18288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Total (שמרני): ~30,000 ש"ח MRR בחודש 4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F3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3716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שותפויות חדשות — 5 סגמנטים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Economy • מרכזים רפואיים • כושר/יופי • מרקטפלייסים • קליניקות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3716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— מיפוי 5 סגמנטים + גודל שוק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82880" y="777240"/>
            <a:ext cx="1463040" cy="36576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25400" tIns="38100" rIns="381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סגמנט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691640" y="777240"/>
            <a:ext cx="1280160" cy="36576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25400" tIns="38100" rIns="381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גודל שוק (IL)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017520" y="777240"/>
            <a:ext cx="1828800" cy="36576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25400" tIns="38100" rIns="381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תיאור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892040" y="777240"/>
            <a:ext cx="1463040" cy="36576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25400" tIns="38100" rIns="381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מוצר PayMe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0" y="777240"/>
            <a:ext cx="1463040" cy="36576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25400" tIns="38100" rIns="381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מקור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09560" y="777240"/>
            <a:ext cx="822960" cy="36576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25400" tIns="38100" rIns="381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עדיפות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82880" y="1188720"/>
            <a:ext cx="1463040" cy="59436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Economy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91640" y="1188720"/>
            <a:ext cx="1280160" cy="59436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25,000-35,000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017520" y="1188720"/>
            <a:ext cx="1828800" cy="59436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שליחים + נהגים עצמאיים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92040" y="1188720"/>
            <a:ext cx="1463040" cy="59436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0" y="1188720"/>
            <a:ext cx="1463040" cy="59436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כלכליסט, Wolt Case Study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909560" y="1188720"/>
            <a:ext cx="822960" cy="59436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82880" y="1847088"/>
            <a:ext cx="14630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מרכזים רפואיים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691640" y="1847088"/>
            <a:ext cx="12801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1,500-2,000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017520" y="1847088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רופאים עצמאיים במרכזים פרטיים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892040" y="1847088"/>
            <a:ext cx="14630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+ Payments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400800" y="1847088"/>
            <a:ext cx="14630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אתרי אסותא, HMC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909560" y="1847088"/>
            <a:ext cx="8229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82880" y="2505456"/>
            <a:ext cx="1463040" cy="59436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כושר / סטודיואים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691640" y="2505456"/>
            <a:ext cx="1280160" cy="59436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10,000-20,000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017520" y="2505456"/>
            <a:ext cx="1828800" cy="59436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מאמנים, סטודיואים, חוגים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892040" y="2505456"/>
            <a:ext cx="1463040" cy="59436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+ Promoter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400800" y="2505456"/>
            <a:ext cx="1463040" cy="59436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אתר Arbox, BoostApp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909560" y="2505456"/>
            <a:ext cx="822960" cy="59436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82880" y="3163824"/>
            <a:ext cx="14630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יופי / קוסמטיקה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691640" y="3163824"/>
            <a:ext cx="12801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10,000-20,000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017520" y="3163824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קוסמטיקאיות, מכוני יופי, מספרות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892040" y="3163824"/>
            <a:ext cx="14630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+ Accounting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400800" y="3163824"/>
            <a:ext cx="14630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משרד העבודה, איגוד הקוסמטיקה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909560" y="3163824"/>
            <a:ext cx="8229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82880" y="3822192"/>
            <a:ext cx="1463040" cy="59436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מרקטפלייסי בעלי מקצוע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691640" y="3822192"/>
            <a:ext cx="1280160" cy="59436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עשרות אלפים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3017520" y="3822192"/>
            <a:ext cx="1828800" cy="59436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שיפוצניקים, חשמלאים, אינסטלטורים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892040" y="3822192"/>
            <a:ext cx="1463040" cy="59436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+ Payments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400800" y="3822192"/>
            <a:ext cx="1463040" cy="59436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מידרג (1M+ משתמשים)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7909560" y="3822192"/>
            <a:ext cx="822960" cy="59436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סה"כ Addressable Market: ~50,000-80,000 עסקים קטנים ועצמאיים בישראל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מקורות מפורטים בגיליון "בסיס החישוב" + מסמכי מחקר מצורפים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3716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— שותפים נבחרים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מתוך 40+ שותפים שנחקרו — 6 נבחרו על בסיס: Sales Cycle, PoC קיים, Volume, Fit למוצר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82880" y="1005840"/>
            <a:ext cx="1097280" cy="36576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25400" tIns="38100" rIns="381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שותף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325880" y="1005840"/>
            <a:ext cx="914400" cy="36576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25400" tIns="38100" rIns="381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סגמנט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286000" y="1005840"/>
            <a:ext cx="1097280" cy="36576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25400" tIns="38100" rIns="381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גודל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429000" y="1005840"/>
            <a:ext cx="2286000" cy="36576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25400" tIns="38100" rIns="381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למה נבחר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760720" y="1005840"/>
            <a:ext cx="1463040" cy="36576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25400" tIns="38100" rIns="381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מוצר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269480" y="1005840"/>
            <a:ext cx="1097280" cy="36576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25400" tIns="38100" rIns="381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M4 (שמרני)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82880" y="1417320"/>
            <a:ext cx="109728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תן ביס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325880" y="1417320"/>
            <a:ext cx="9144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286000" y="1417320"/>
            <a:ext cx="109728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~6,000 שליחים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429000" y="1417320"/>
            <a:ext cx="22860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Wolt מוכח. עברה ל-100% עצמאיים 2025. מחליפה Keycost.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760720" y="1417320"/>
            <a:ext cx="146304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269480" y="1417320"/>
            <a:ext cx="109728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33,750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82880" y="1965960"/>
            <a:ext cx="1097280" cy="50292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Arbox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325880" y="1965960"/>
            <a:ext cx="914400" cy="50292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כושר/יופי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286000" y="1965960"/>
            <a:ext cx="1097280" cy="50292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~7,000 עסקים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429000" y="1965960"/>
            <a:ext cx="2286000" cy="50292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פלטפורמה #1. חסר Accounting. Volume ענק.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760720" y="1965960"/>
            <a:ext cx="1463040" cy="50292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+ Promoter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269480" y="1965960"/>
            <a:ext cx="1097280" cy="50292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17,600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82880" y="2514600"/>
            <a:ext cx="109728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325880" y="2514600"/>
            <a:ext cx="9144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יופי/שירותים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286000" y="2514600"/>
            <a:ext cx="109728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~3,000 עסקים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429000" y="2514600"/>
            <a:ext cx="22860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תורים ללא סליקה. Fit טבעי.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760720" y="2514600"/>
            <a:ext cx="146304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+ Accounting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269480" y="2514600"/>
            <a:ext cx="109728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82880" y="3063240"/>
            <a:ext cx="1097280" cy="50292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אסותא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325880" y="3063240"/>
            <a:ext cx="914400" cy="50292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רפואי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2286000" y="3063240"/>
            <a:ext cx="1097280" cy="50292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 רופאים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429000" y="3063240"/>
            <a:ext cx="2286000" cy="50292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Credibility. עסקה אחת = מאות רופאים.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760720" y="3063240"/>
            <a:ext cx="1463040" cy="50292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+ Payments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269480" y="3063240"/>
            <a:ext cx="1097280" cy="50292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1,250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82880" y="3611880"/>
            <a:ext cx="109728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HMC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325880" y="3611880"/>
            <a:ext cx="9144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רפואי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2286000" y="3611880"/>
            <a:ext cx="109728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רופאים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429000" y="3611880"/>
            <a:ext cx="22860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בי"ח פרטי פרימיום. אות איכות.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760720" y="3611880"/>
            <a:ext cx="146304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+ Payments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7269480" y="3611880"/>
            <a:ext cx="109728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182880" y="4160520"/>
            <a:ext cx="1097280" cy="50292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יאנגו דלי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1325880" y="4160520"/>
            <a:ext cx="914400" cy="50292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2286000" y="4160520"/>
            <a:ext cx="1097280" cy="50292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~2,000 שליחים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3429000" y="4160520"/>
            <a:ext cx="2286000" cy="50292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אותו מודל Wolt. Yandex.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760720" y="4160520"/>
            <a:ext cx="1463040" cy="50292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269480" y="4160520"/>
            <a:ext cx="1097280" cy="502920"/>
          </a:xfrm>
          <a:prstGeom prst="rect">
            <a:avLst/>
          </a:prstGeom>
          <a:solidFill>
            <a:srgbClr val="F4F5F9"/>
          </a:solidFill>
          <a:ln/>
        </p:spPr>
        <p:txBody>
          <a:bodyPr wrap="square" lIns="38100" tIns="50800" rIns="50800" bIns="3810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7,500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1828800" y="4709160"/>
            <a:ext cx="5486400" cy="320040"/>
          </a:xfrm>
          <a:prstGeom prst="roundRect">
            <a:avLst>
              <a:gd name="adj" fmla="val 22857"/>
            </a:avLst>
          </a:prstGeom>
          <a:solidFill>
            <a:srgbClr val="FFF3E0"/>
          </a:solidFill>
          <a:ln/>
        </p:spPr>
      </p:sp>
      <p:sp>
        <p:nvSpPr>
          <p:cNvPr id="48" name="Text 45"/>
          <p:cNvSpPr/>
          <p:nvPr/>
        </p:nvSpPr>
        <p:spPr>
          <a:xfrm>
            <a:off x="18288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Total (שמרני): ~72,000 ש"ח MRR בחודש 4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3716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הצעת ערך — לא עמלה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858000" y="914400"/>
            <a:ext cx="2011680" cy="3474720"/>
          </a:xfrm>
          <a:prstGeom prst="roundRect">
            <a:avLst>
              <a:gd name="adj" fmla="val 4545"/>
            </a:avLst>
          </a:prstGeom>
          <a:solidFill>
            <a:srgbClr val="F4F5F9"/>
          </a:solidFill>
          <a:ln/>
          <a:effectLst>
            <a:outerShdw sx="100000" sy="100000" kx="0" ky="0" algn="bl" rotWithShape="0" blurRad="50800" dist="25400" dir="10800000">
              <a:srgbClr val="000000">
                <a:alpha val="6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949440" y="1005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תן ביס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94944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שימור שליחים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949440" y="2011680"/>
            <a:ext cx="1828800" cy="201168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שליח שלא מסתדר עם ניירת = עוזב.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 מחליפה Keycost (99 ש"ח) עם שירות טוב יותר.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63440" y="914400"/>
            <a:ext cx="2011680" cy="3474720"/>
          </a:xfrm>
          <a:prstGeom prst="roundRect">
            <a:avLst>
              <a:gd name="adj" fmla="val 4545"/>
            </a:avLst>
          </a:prstGeom>
          <a:solidFill>
            <a:srgbClr val="F4F5F9"/>
          </a:solidFill>
          <a:ln/>
          <a:effectLst>
            <a:outerShdw sx="100000" sy="100000" kx="0" ky="0" algn="bl" rotWithShape="0" blurRad="50800" dist="25400" dir="10800000">
              <a:srgbClr val="000000">
                <a:alpha val="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54880" y="1005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Arbox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75488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פיצ'ר חסר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54880" y="2011680"/>
            <a:ext cx="1828800" cy="201168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הלקוחות שואלים "למה אין חשבוניות?"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 נותנת את זה בלי שורת קוד.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68880" y="914400"/>
            <a:ext cx="2011680" cy="3474720"/>
          </a:xfrm>
          <a:prstGeom prst="roundRect">
            <a:avLst>
              <a:gd name="adj" fmla="val 4545"/>
            </a:avLst>
          </a:prstGeom>
          <a:solidFill>
            <a:srgbClr val="F4F5F9"/>
          </a:solidFill>
          <a:ln/>
          <a:effectLst>
            <a:outerShdw sx="100000" sy="100000" kx="0" ky="0" algn="bl" rotWithShape="0" blurRad="50800" dist="25400" dir="10800000">
              <a:srgbClr val="000000">
                <a:alpha val="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560320" y="1005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56032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הכפלת ARPU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560320" y="2011680"/>
            <a:ext cx="1828800" cy="201168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מ-50₪ (יומן) ל-200₪ (יומן+סליקה+חשבוניות).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 מכפילה את ה-ARPU של Plannie.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914400"/>
            <a:ext cx="2011680" cy="3474720"/>
          </a:xfrm>
          <a:prstGeom prst="roundRect">
            <a:avLst>
              <a:gd name="adj" fmla="val 4545"/>
            </a:avLst>
          </a:prstGeom>
          <a:solidFill>
            <a:srgbClr val="F4F5F9"/>
          </a:solidFill>
          <a:ln/>
          <a:effectLst>
            <a:outerShdw sx="100000" sy="100000" kx="0" ky="0" algn="bl" rotWithShape="0" blurRad="50800" dist="25400" dir="10800000">
              <a:srgbClr val="000000">
                <a:alpha val="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65760" y="1005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6576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חווית משתמש שלמה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65760" y="2011680"/>
            <a:ext cx="1828800" cy="201168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מערכות → מערכת אחת.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Lock-in + Revenue Stream חדש.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3716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תוכנית עבודה — 4 חודשים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995160" y="822960"/>
            <a:ext cx="2057400" cy="3931920"/>
          </a:xfrm>
          <a:prstGeom prst="roundRect">
            <a:avLst>
              <a:gd name="adj" fmla="val 4444"/>
            </a:avLst>
          </a:prstGeom>
          <a:solidFill>
            <a:srgbClr val="E3F2FD"/>
          </a:solidFill>
          <a:ln/>
        </p:spPr>
      </p:sp>
      <p:sp>
        <p:nvSpPr>
          <p:cNvPr id="5" name="Text 2"/>
          <p:cNvSpPr/>
          <p:nvPr/>
        </p:nvSpPr>
        <p:spPr>
          <a:xfrm>
            <a:off x="7086600" y="8686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חודש 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086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תכנון + פניות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086600" y="1554480"/>
            <a:ext cx="1874520" cy="228600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Inbound: Wolt הרחבה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Outbound: פנייה 10bis + Plannie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אסותא: מיפוי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086600" y="40233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₪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754880" y="822960"/>
            <a:ext cx="2057400" cy="3931920"/>
          </a:xfrm>
          <a:prstGeom prst="roundRect">
            <a:avLst>
              <a:gd name="adj" fmla="val 4444"/>
            </a:avLst>
          </a:prstGeom>
          <a:solidFill>
            <a:srgbClr val="F3E5F5"/>
          </a:solidFill>
          <a:ln/>
        </p:spPr>
      </p:sp>
      <p:sp>
        <p:nvSpPr>
          <p:cNvPr id="10" name="Text 7"/>
          <p:cNvSpPr/>
          <p:nvPr/>
        </p:nvSpPr>
        <p:spPr>
          <a:xfrm>
            <a:off x="4846320" y="8686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חודש 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84632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ביצוע + Pilots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46320" y="1554480"/>
            <a:ext cx="1874520" cy="228600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10bis: חתימה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Plannie: סגירה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Arbox: משא ומתן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Wix: פגישה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0" y="40233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13,600 ₪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514600" y="822960"/>
            <a:ext cx="2057400" cy="3931920"/>
          </a:xfrm>
          <a:prstGeom prst="roundRect">
            <a:avLst>
              <a:gd name="adj" fmla="val 4444"/>
            </a:avLst>
          </a:prstGeom>
          <a:solidFill>
            <a:srgbClr val="FFF8E1"/>
          </a:solidFill>
          <a:ln/>
        </p:spPr>
      </p:sp>
      <p:sp>
        <p:nvSpPr>
          <p:cNvPr id="15" name="Text 12"/>
          <p:cNvSpPr/>
          <p:nvPr/>
        </p:nvSpPr>
        <p:spPr>
          <a:xfrm>
            <a:off x="2606040" y="8686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חודש 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60604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הבשלה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606040" y="1554480"/>
            <a:ext cx="1874520" cy="228600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10bis: Rollout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Arbox: Beta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אסותא: Pilot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Isracard: משא ומתן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606040" y="40233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47,000 ₪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74320" y="822960"/>
            <a:ext cx="2057400" cy="3931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/>
        </p:spPr>
      </p:sp>
      <p:sp>
        <p:nvSpPr>
          <p:cNvPr id="20" name="Text 17"/>
          <p:cNvSpPr/>
          <p:nvPr/>
        </p:nvSpPr>
        <p:spPr>
          <a:xfrm>
            <a:off x="365760" y="8686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חודש 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6576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סגירות + Scale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65760" y="1554480"/>
            <a:ext cx="1874520" cy="228600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השותפים Online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מלא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100K+ MRR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65760" y="40233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102,100 ₪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31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3716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תחזית — שני תרחישים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22960"/>
          <a:ext cx="8229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1371600" y="4114800"/>
            <a:ext cx="6400800" cy="731520"/>
          </a:xfrm>
          <a:prstGeom prst="roundRect">
            <a:avLst>
              <a:gd name="adj" fmla="val 12500"/>
            </a:avLst>
          </a:prstGeom>
          <a:solidFill>
            <a:srgbClr val="3A3D5C"/>
          </a:solidFill>
          <a:ln/>
        </p:spPr>
      </p:sp>
      <p:sp>
        <p:nvSpPr>
          <p:cNvPr id="6" name="Text 2"/>
          <p:cNvSpPr/>
          <p:nvPr/>
        </p:nvSpPr>
        <p:spPr>
          <a:xfrm>
            <a:off x="1371600" y="4114800"/>
            <a:ext cx="6400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שמרני: 102,100 ₪ | עליון: 141,000 ₪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גם בתרחיש השמרני — מגיעים ליעד. התוכנית לא תלויה בהצלחה אחת.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3716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הגישה שלי — בכנות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4F5F9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9875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חודש 1 = תכנון, לא הכנסות.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33502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 שמבטיח הכנסות בחודש הראשון לא מכיר את המציאות.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8745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4F5F9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94767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קודם Inbound — כי שם יש יחסים.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29514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Cycle קצר. תוצאות מהירות. מעגל קרוב קודם.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8346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3E0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90779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המספרים הם הערכות, לא נבואות.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325526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צריך לתקף אותם מול המציאות בכל שבוע.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7947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4F5F9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86791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חודש 3 = מגמה. חודש 4 = סגירות.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" y="421538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שהתבשל 3 חודשים צריך להפוך למספרים.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3716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נספחים וקישורים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0800000">
              <a:srgbClr val="000000">
                <a:alpha val="6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280160" y="8961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 — תוכנית סופית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80160" y="12161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גיליונות: בסיס החישוב | בחירת שותפים | פעילות שבועית 12 שבועות | תרחיש שמרני | תרחיש עליון | השוואה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0" y="960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[קישור לגיליון]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8745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0800000">
              <a:srgbClr val="000000">
                <a:alpha val="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280160" y="19476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מסמך נלווה — אסטרטגיה ומתודולוגיה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80160" y="22677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עמודים: מודל דו-מנועי, מתודולוגיית Inbound, הצעות ערך, לוגיקת תחזית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58368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[קישור למסמך]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9260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0800000">
              <a:srgbClr val="000000">
                <a:alpha val="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1280160" y="29992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דף סיכום — HTML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80160" y="33192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 שמרכז את כל העבודה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583680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[קישור לדף]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39776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0800000">
              <a:srgbClr val="000000">
                <a:alpha val="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4008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1280160" y="40507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D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מסמכי מחקר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280160" y="43708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מחקר אסטרטגי (12 עמ') | מחקר סגמנטים (12 עמ') | מחקר מעמיק 5 סגמנטים (11 עמ') | תוכנית אופרטיבית (9 עמ')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583680" y="4114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[קישורים]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מקורות נתונים: אתר PayMe.io | כלכליסט | אתר אסותא | אתר Arbox | Wix Dev Docs | ויקיפדיה | משרד העבודה | איגוד הקוסמטיקה | Capterra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31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91440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תודה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 — Strategic Partner Sales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2026-07-20T11:02:06Z</dcterms:created>
  <dcterms:modified xsi:type="dcterms:W3CDTF">2026-07-20T11:02:06Z</dcterms:modified>
</cp:coreProperties>
</file>